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a51bef4f7b41bb" /><Relationship Type="http://schemas.openxmlformats.org/officeDocument/2006/relationships/extended-properties" Target="/docProps/app.xml" Id="Rf47358d4618f4ea0" /><Relationship Type="http://schemas.openxmlformats.org/officeDocument/2006/relationships/officeDocument" Target="/ppt/presentation.xml" Id="Rf019cb99e83d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1f2fa92994001"/>
  </p:sldMasterIdLst>
  <p:notesMasterIdLst>
    <p:notesMasterId xmlns:r="http://schemas.openxmlformats.org/officeDocument/2006/relationships" r:id="R89267e932794406a"/>
  </p:notesMasterIdLst>
  <p:sldIdLst>
    <p:sldId xmlns:r="http://schemas.openxmlformats.org/officeDocument/2006/relationships" id="256" r:id="Raa56eea41e6440ee"/>
    <p:sldId xmlns:r="http://schemas.openxmlformats.org/officeDocument/2006/relationships" id="257" r:id="R1b67a42849b34eb2"/>
    <p:sldId xmlns:r="http://schemas.openxmlformats.org/officeDocument/2006/relationships" id="258" r:id="R370fda22c6634c29"/>
    <p:sldId xmlns:r="http://schemas.openxmlformats.org/officeDocument/2006/relationships" id="259" r:id="R98b019eb814d4a88"/>
    <p:sldId xmlns:r="http://schemas.openxmlformats.org/officeDocument/2006/relationships" id="260" r:id="R3533b5ec4edc4520"/>
    <p:sldId xmlns:r="http://schemas.openxmlformats.org/officeDocument/2006/relationships" id="261" r:id="Rbe1293aa4bc747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a15ffc5a1f4689" /><Relationship Type="http://schemas.openxmlformats.org/officeDocument/2006/relationships/slideMaster" Target="/ppt/slideMasters/slideMaster1.xml" Id="Ra241f2fa92994001" /><Relationship Type="http://schemas.openxmlformats.org/officeDocument/2006/relationships/notesMaster" Target="/ppt/notesMasters/notesMaster1.xml" Id="R89267e932794406a" /><Relationship Type="http://schemas.openxmlformats.org/officeDocument/2006/relationships/presProps" Target="/ppt/presProps.xml" Id="R2de572d795674478" /><Relationship Type="http://schemas.openxmlformats.org/officeDocument/2006/relationships/tableStyles" Target="/ppt/tableStyles.xml" Id="R54b5a34d388e4dd8" /><Relationship Type="http://schemas.openxmlformats.org/officeDocument/2006/relationships/slide" Target="/ppt/slides/slide1.xml" Id="Raa56eea41e6440ee" /><Relationship Type="http://schemas.openxmlformats.org/officeDocument/2006/relationships/slide" Target="/ppt/slides/slide2.xml" Id="R1b67a42849b34eb2" /><Relationship Type="http://schemas.openxmlformats.org/officeDocument/2006/relationships/slide" Target="/ppt/slides/slide3.xml" Id="R370fda22c6634c29" /><Relationship Type="http://schemas.openxmlformats.org/officeDocument/2006/relationships/slide" Target="/ppt/slides/slide4.xml" Id="R98b019eb814d4a88" /><Relationship Type="http://schemas.openxmlformats.org/officeDocument/2006/relationships/slide" Target="/ppt/slides/slide5.xml" Id="R3533b5ec4edc4520" /><Relationship Type="http://schemas.openxmlformats.org/officeDocument/2006/relationships/slide" Target="/ppt/slides/slide6.xml" Id="Rbe1293aa4bc7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7f615697a443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d96c887d24657" /><Relationship Type="http://schemas.openxmlformats.org/officeDocument/2006/relationships/notesMaster" Target="/ppt/notesMasters/notesMaster1.xml" Id="R3337834ca377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beb6f429b4969" /><Relationship Type="http://schemas.openxmlformats.org/officeDocument/2006/relationships/notesMaster" Target="/ppt/notesMasters/notesMaster1.xml" Id="R5a7715572a48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43ecb9186e4700" /><Relationship Type="http://schemas.openxmlformats.org/officeDocument/2006/relationships/notesMaster" Target="/ppt/notesMasters/notesMaster1.xml" Id="Rd92d8ba1971f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06604af52d4d25" /><Relationship Type="http://schemas.openxmlformats.org/officeDocument/2006/relationships/notesMaster" Target="/ppt/notesMasters/notesMaster1.xml" Id="R8a344591c5224e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b0d9d78c50416c" /><Relationship Type="http://schemas.openxmlformats.org/officeDocument/2006/relationships/notesMaster" Target="/ppt/notesMasters/notesMaster1.xml" Id="Rd970a58fe1d443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7a1e232f274993" /><Relationship Type="http://schemas.openxmlformats.org/officeDocument/2006/relationships/notesMaster" Target="/ppt/notesMasters/notesMaster1.xml" Id="R31e6845b4b2e49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: ordonnance fictive générée par le dépôt, fichier static/samples/ordonnance_2_ambigue.png. Source et statut synthétique documentés dans generate_samples.py.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problème est présenté comme un besoin de conception, sans chiffre de prévalence ni promesse de réduction d’erreurs. Source de cadrage : docs/prd.md.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décrite par le produit : app.py (routes d’analyse et interface), gemini_service.py (appel multimodal Google Gemini). Ne pas présenter les scores de confiance comme validés cliniquement.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L’image est un spécimen fictif généré par generate_samples.py. Le code gemini_service.py utilise actuellement un seuil qui peut marquer une ligne comme confirmée à partir de 40%; ne pas prétendre que le garde-fou bloque déjà tout cas douteux.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dépôt contient data/medicaments.db, les routes de catalogue et de pharmacies dans app.py et une référence de source dans scraper_prix.py. Les informations affichées dans l’application ne sont pas certifiées ici comme exhaustives ou à jour.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Limites confirmées dans le code : l’analyse dépend de l’API Gemini et d’une clé; les appels successifs sont des replis de modèle, pas un mode hors-ligne. Le seuil de confirmation et les données locales demandent une validation avant utilisation réelle.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61d93262c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9dcf52e4ae4405" /><Relationship Type="http://schemas.openxmlformats.org/officeDocument/2006/relationships/slideLayout" Target="/ppt/slideLayouts/slideLayout1.xml" Id="R787bbed999db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bbed999db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3b109aee5422c" /><Relationship Type="http://schemas.openxmlformats.org/officeDocument/2006/relationships/image" Target="/ppt/media/image.png" Id="R497c3b91701641ef" /><Relationship Type="http://schemas.openxmlformats.org/officeDocument/2006/relationships/notesSlide" Target="/ppt/notesSlides/notesSlide1.xml" Id="R73e8087638c3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87134e1e4886" /><Relationship Type="http://schemas.openxmlformats.org/officeDocument/2006/relationships/notesSlide" Target="/ppt/notesSlides/notesSlide2.xml" Id="R1bc590b6f099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1326191a4445b" /><Relationship Type="http://schemas.openxmlformats.org/officeDocument/2006/relationships/notesSlide" Target="/ppt/notesSlides/notesSlide3.xml" Id="Rb7e4587cca3741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ee2015aeb4552" /><Relationship Type="http://schemas.openxmlformats.org/officeDocument/2006/relationships/image" Target="/ppt/media/image2.png" Id="Rce5c8322b6a1485d" /><Relationship Type="http://schemas.openxmlformats.org/officeDocument/2006/relationships/notesSlide" Target="/ppt/notesSlides/notesSlide4.xml" Id="Ra0e36101a1cc42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c67ac60744768" /><Relationship Type="http://schemas.openxmlformats.org/officeDocument/2006/relationships/notesSlide" Target="/ppt/notesSlides/notesSlide5.xml" Id="Re1cf2dd13e644b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f597c0b6044b2" /><Relationship Type="http://schemas.openxmlformats.org/officeDocument/2006/relationships/notesSlide" Target="/ppt/notesSlides/notesSlide6.xml" Id="Rfcafe445d6f848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F2008-7EE8-4C1D-A93B-8E9A8BF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483F-78F8-44F5-B72D-BB79DEE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E7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9E765"/>
                </a:solidFill>
                <a:latin typeface="Helvetica Neue"/>
                <a:ea typeface="Helvetica Neue"/>
                <a:cs typeface="Helvetica Neue"/>
              </a:rPr>
              <a:t>COME BUILD WITH AI  ·  ABIDJAN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F433B-163C-45A2-B8F6-EDCC9869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52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Ordonnance+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F709D-84B6-4C63-A4BA-039679C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Lire mieux.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Vérifier ensemble.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744E1-C994-4E43-9BED-4930683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E3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4E3DB"/>
                </a:solidFill>
                <a:latin typeface="Helvetica Neue"/>
                <a:ea typeface="Helvetica Neue"/>
                <a:cs typeface="Helvetica Neue"/>
              </a:rPr>
              <a:t>Un assistant de transcription pour le pharmacien, pensé pour le contexte ivoirien.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007D-EB4C-47E3-A584-FA571579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3D446-DB74-4F02-B576-8ED9B86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8C0"/>
                </a:solidFill>
                <a:latin typeface="Helvetica Neue"/>
                <a:ea typeface="Helvetica Neue"/>
                <a:cs typeface="Helvetica Neue"/>
              </a:rPr>
              <a:t>Prototype de hackathon  ·  27 septembre 2026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c3b91701641ef"/>
          <a:stretch xmlns:a="http://schemas.openxmlformats.org/drawingml/2006/main"/>
        </p:blipFill>
        <p:spPr>
          <a:xfrm xmlns:a="http://schemas.openxmlformats.org/drawingml/2006/main">
            <a:off x="7239000" y="914929"/>
            <a:ext cx="3905250" cy="499004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FB03E-8F34-4A5E-B211-CDB9457B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42950"/>
            <a:ext cx="1847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ED398-9593-44BA-90B7-6EE50BF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715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SPÉCIMEN FICTIF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B5F50-1A9C-4581-BAAF-B66580CB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8C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B8C8C0"/>
                </a:solidFill>
                <a:latin typeface="Helvetica Neue"/>
                <a:ea typeface="Helvetica Neue"/>
                <a:cs typeface="Helvetica Neue"/>
              </a:rPr>
              <a:t>Aide à la lecture — jamais à la prescription</a:t>
            </a:r>
          </a:p>
        </p:txBody>
      </p:sp>
    </p:spTree>
    <p:extLst>
      <p:ext uri="{BB962C8B-B14F-4D97-AF65-F5344CB8AC3E}">
        <p14:creationId xmlns:p14="http://schemas.microsoft.com/office/powerpoint/2010/main" val="1891319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C4FF1-2906-46EB-9553-207E5CED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LE BESOIN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160B7-6F63-4C81-B8B1-4DF021F6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Le doute manuscrit ralentit la vérification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44389-58E5-40D7-AE82-F2C79CA6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4059-96ED-4894-B18D-3B84BE9A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ORDONNANCE+  ·  COME BUILD WITH AI  ·  ABIDJAN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00C84-E1C9-42B0-A445-A9402CAE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D948D-7BDA-48BC-8CCC-D308A74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Au comptoir, une ligne difficile à lire demande une vérification attentive.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DCCCA-4AB9-41B1-B944-F6405C8B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DAB6F-292A-4092-880A-EFB1399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683C-575D-4790-9F58-8854E7F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717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Les écritures manuscrites peuvent rendre les noms et les dosages difficiles à interpréter.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4EA57-4639-4A00-AEDC-9B95E2B1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F53B5-7121-4D4D-A394-67D29ABA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579DB-53BA-4FF8-9E9D-D654919B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Incertitude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6CC6A-4891-42DF-AA51-3F7ECCF7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Un outil doit rendre le doute visible au lieu de compléter ce qu’il ne lit pas.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4F327-25F0-484D-91F3-88569F0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FCD7B-B78E-465F-9216-2872012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2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61D07-8AD5-4AC7-BB63-CCBE6086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96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Contexte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26DD-A1D6-48BC-A2F7-8FD276A1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196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Le pharmacien a aussi besoin d’informations utiles en FCFA et adaptées aux communes d’Abidjan.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7A73A-2457-40F1-AAE1-F076E2D7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93BA5-B031-4276-8525-F34FEFEA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Notre parti pris : assister la lecture, laisser la décision au pharmacien.</a:t>
            </a:r>
          </a:p>
        </p:txBody>
      </p:sp>
    </p:spTree>
    <p:extLst>
      <p:ext uri="{BB962C8B-B14F-4D97-AF65-F5344CB8AC3E}">
        <p14:creationId xmlns:p14="http://schemas.microsoft.com/office/powerpoint/2010/main" val="7162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3EF78-D35A-4C69-8EF4-533448E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LE PARCOURS UTILISATEUR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B5536-8351-4E73-9E2E-8BD91AF1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De l’image à une lecture à vérifier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61C4B-13C9-4AFD-80DE-D905F917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2097B-373E-4825-9F1F-95FA24BE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ORDONNANCE+  ·  COME BUILD WITH AI  ·  ABIDJAN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F235F-7959-4C43-97BD-3A78637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23158-718E-4A67-897C-F370EE3D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FDDE-1AB8-4466-B0D8-F2A456F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ADFEA-5217-4340-A1E8-6E3AC093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F7A7-595E-4006-9971-7488D10C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Importer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BE47F-0B0D-46FA-A640-F82AE68A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Image ou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4DE72-3DA5-4091-B07A-46071B63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479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B3239-1BA8-4509-A742-F325D14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81300"/>
            <a:ext cx="123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F916D-CDE6-44DF-9BDE-65D58E30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A7229-D11E-4680-B299-FE55453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252D1-8196-4D45-8FBF-3783E41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57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7A785-A125-4AD3-8E26-65CEB1B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Analyser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DAF94-6164-4DC8-9128-B4DE7EC2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956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Gemini Vision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B9D6E-7D58-4BC1-9077-E0426D8D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479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AC980-DFCC-44EF-B3F6-D069DFB9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781300"/>
            <a:ext cx="123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2CC0E-4910-4EE3-9FF0-A02AD92B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4787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0358C-1113-4241-9234-757A15FC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2A3C1-E61D-485F-975F-92E4FB79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57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B5B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BF798-EE7D-42A7-A122-7B7F904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Relire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E61CF-539D-4375-A4EC-CBE8F20D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Texte et confiance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B0BCD-F964-4C4E-BC61-AC25C8A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193CA-B0DA-4617-AA75-78192E10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81300"/>
            <a:ext cx="123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6E8287-9783-4BE9-A450-1ACF1F59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4787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AC9ED-EEAE-46AB-8103-4B42909C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10DB8-0305-45C2-8314-3EDAFB4E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574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299F2-9416-40DB-847F-3BE400AA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384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Préparer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A8B6B-0EA6-459C-BAA4-3828E7DD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Fiche indicative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9E5994-06D2-4067-AE95-F74ADB0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10610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2E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09717-DA92-4E21-9625-173C8CF3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Le pharmacien garde la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63E6F6-31EA-4690-91A9-39DA9A07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L’IA propose une transcription ; chaque information doit être vérifiée avant toute délivrance.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C448ED-1269-422F-8D59-CE872AA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Pas de diagnostic. Pas de prescription. Pas de substitution automatique.</a:t>
            </a:r>
          </a:p>
        </p:txBody>
      </p:sp>
    </p:spTree>
    <p:extLst>
      <p:ext uri="{BB962C8B-B14F-4D97-AF65-F5344CB8AC3E}">
        <p14:creationId xmlns:p14="http://schemas.microsoft.com/office/powerpoint/2010/main" val="526911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4C1B2-D6DA-49CC-839F-9C150E08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LA DÉMO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3360C-3022-42B2-ADD8-5E67ED1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Cas de démonstration : dosage ambigu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3FA4A-D4B9-4B4D-8E60-2480D6FC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C7465-B34A-4983-BB1B-C9663371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ORDONNANCE+  ·  COME BUILD WITH AI  ·  ABIDJAN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A944F-78A9-43A8-9084-F5510F91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c8322b6a1485d"/>
          <a:stretch xmlns:a="http://schemas.openxmlformats.org/drawingml/2006/main"/>
        </p:blipFill>
        <p:spPr>
          <a:xfrm xmlns:a="http://schemas.openxmlformats.org/drawingml/2006/main">
            <a:off x="685800" y="1507067"/>
            <a:ext cx="3619500" cy="46249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42C24-17EB-42C5-94EA-2325348C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57350"/>
            <a:ext cx="604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Une ambiguïté volontaire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5ADCE-F161-4A21-9160-EC28B32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601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« Ciprofloxacine 250/500 mg (?) 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5F145-B6A2-4A0C-957E-3811BD4D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600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4834A-5C5D-40E1-9E77-A3A9F9C9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766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Ce que nous montrons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F7CE5-67EA-473C-BF06-78A372A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• Un document synthétique</a:t>
            </a:r>
          </a:p>
          <a:p xmlns:a="http://schemas.openxmlformats.org/drawingml/2006/main">
            <a:pPr algn="l">
              <a:def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• Une ligne dont le dosage doit être vérifié</a:t>
            </a:r>
          </a:p>
          <a:p xmlns:a="http://schemas.openxmlformats.org/drawingml/2006/main">
            <a:pPr algn="l">
              <a:def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• La nécessité d’une relecture humaine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70F67-64DF-41DA-B151-9D9423D1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605790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29F59-2A69-4886-81E9-7D4B6AFF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673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00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6500A"/>
                </a:solidFill>
                <a:latin typeface="Helvetica Neue"/>
                <a:ea typeface="Helvetica Neue"/>
                <a:cs typeface="Helvetica Neue"/>
              </a:rPr>
              <a:t>Prototype en cours de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DDA3F-C1E1-457E-B6A4-78DB945A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530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Le score et le verrou de validation doivent être fiabilisés avant tout usage professionnel.</a:t>
            </a:r>
          </a:p>
        </p:txBody>
      </p:sp>
    </p:spTree>
    <p:extLst>
      <p:ext uri="{BB962C8B-B14F-4D97-AF65-F5344CB8AC3E}">
        <p14:creationId xmlns:p14="http://schemas.microsoft.com/office/powerpoint/2010/main" val="23514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501F43-0A15-48B9-8127-DE3A1AE1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VALEUR LOCALE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BBECD-DCD9-45B1-9E3D-F2CFBA6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Des repères pensés pour la Côte d’Ivoire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5B027-CCF0-463A-ADF8-B060132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20AF0-970D-4B71-A85E-34042F11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ORDONNANCE+  ·  COME BUILD WITH AI  ·  ABIDJAN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5BFB4-56C3-4DA0-A7E8-6C1AA301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FB9CC-91FF-496D-82CB-DAD874FA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72A3-A356-414A-A953-3FB07C90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Référentiel médicament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2569C-338E-407B-B6A0-00293C23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95450"/>
            <a:ext cx="582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Recherche locale et affichage de prix indicatifs en FCFA.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C305-427C-4491-9597-8D98AC3E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09F6B-E79B-4720-9902-AC79F92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4417A-C4E6-4FB0-B599-3FE24A47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670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Orientation de proximité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B5DE6-905C-404F-8E01-003C8627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82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Filtres par commune et accès aux coordonnées affichées dans le prototype.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01E02-2D58-4C5B-BEC9-A65FD43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CA693-0B7E-4DBE-9CE4-A570D3A9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64E3D-4484-49E7-B44D-80EE6E8C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Information patient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9234A-980A-4DC6-8DA4-BE0CE007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582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Une fiche de synthèse à relire avec le pharmacien.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5F346-CCE0-4D57-B87A-296459B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038AA-42D2-4ABB-B961-B8C8CF38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9982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74D56-110A-44AD-AE54-24FEDBAE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Prix, horaires et coordonnées doivent être vérifiés auprès des sources locales avant usage réel.</a:t>
            </a:r>
          </a:p>
        </p:txBody>
      </p:sp>
    </p:spTree>
    <p:extLst>
      <p:ext uri="{BB962C8B-B14F-4D97-AF65-F5344CB8AC3E}">
        <p14:creationId xmlns:p14="http://schemas.microsoft.com/office/powerpoint/2010/main" val="605913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741B70-03FC-4DA9-B24D-C5854B62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TECHNOLOGIE &amp; PROCHAINES ÉTAPES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4AC35-ABB1-483B-8733-D3EDBF85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Un prototype à valider avec les professionnels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8DE11-C6C2-40B0-ADF9-6402DD6F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C5E2-CC9A-442B-8B5B-BCF691F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45A"/>
                </a:solidFill>
                <a:latin typeface="Helvetica Neue"/>
                <a:ea typeface="Helvetica Neue"/>
                <a:cs typeface="Helvetica Neue"/>
              </a:rPr>
              <a:t>ORDONNANCE+  ·  COME BUILD WITH AI  ·  ABIDJAN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097DC-5082-47A2-84C7-E0E48D7D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56351-CA33-4C28-BB18-BDA9A53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STACK DU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215D2-52E4-46FE-97EB-B3C9C7A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Google Gemini via AI Studio</a:t>
            </a:r>
          </a:p>
          <a:p xmlns:a="http://schemas.openxmlformats.org/drawingml/2006/main">
            <a:pPr algn="l">
              <a:def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SQLite · interface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4771-BC82-4C22-B154-769E5B9C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621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F5264-C257-46C4-B177-BC9A563C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4633D"/>
                </a:solidFill>
                <a:latin typeface="Helvetica Neue"/>
                <a:ea typeface="Helvetica Neue"/>
                <a:cs typeface="Helvetica Neue"/>
              </a:rPr>
              <a:t>À FAIRE ENSUITE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7550F-A079-4424-9677-CA3BFF37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E635-251E-4F2E-B21B-C309D719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430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Valider la transcription et le seuil de confiance avec des pharmaciens.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8BFE0-5CDE-410C-ADD0-4ABC495F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C4350-CEA5-4A68-9F0F-D2533808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430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Contrôler les sources, les droits et la fraîcheur du catalogue local.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5B759-578B-494C-AA2C-ACF4CC24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633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19EF7-4BFA-4E9E-9DB4-F79E784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430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2251D"/>
                </a:solidFill>
                <a:latin typeface="Helvetica Neue"/>
                <a:ea typeface="Helvetica Neue"/>
                <a:cs typeface="Helvetica Neue"/>
              </a:rPr>
              <a:t>Mesurer les erreurs et le temps de relecture sur des documents fictifs ou autorisés.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3BF43-E8BE-410B-8B18-AEE30066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11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B8C9C-ED91-425E-9E72-7EAD8A13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10172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Ordonnance+ assiste la lecture. Le pharmacien décide.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3F6A7-23D1-4891-ADB6-A18B89C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4357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8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BD8D1"/>
                </a:solidFill>
                <a:latin typeface="Helvetica Neue"/>
                <a:ea typeface="Helvetica Neue"/>
                <a:cs typeface="Helvetica Neue"/>
              </a:rPr>
              <a:t>Données de démonstration · validation clinique et opérationnelle à mener</a:t>
            </a:r>
          </a:p>
        </p:txBody>
      </p:sp>
    </p:spTree>
    <p:extLst>
      <p:ext uri="{BB962C8B-B14F-4D97-AF65-F5344CB8AC3E}">
        <p14:creationId xmlns:p14="http://schemas.microsoft.com/office/powerpoint/2010/main" val="667409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2026-09-27T16:14:26.3660000Z</dcterms:created>
  <dcterms:modified xsi:type="dcterms:W3CDTF">2026-09-27T16:14:26.3660000Z</dcterms:modified>
</coreProperties>
</file>